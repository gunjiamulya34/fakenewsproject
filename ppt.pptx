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2:36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2:37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2:31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2:31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2:31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2:31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24575,'-5'0'0,"-10"0"0,-4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2:47.3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2:50.8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2:53.9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2:57.4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3:00.1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3:01.4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3:03.7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3:08.2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3:09.1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3:10.5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3:13.0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3:14.7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4:59.9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7:25:06.3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5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503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62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05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29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67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51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017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4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27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500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495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392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617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985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085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95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288AAF-499B-485C-B64C-84CC1209DB1E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B6599-46C4-4F3D-98D5-17B3C0294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8078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customXml" Target="../ink/ink9.xml"/><Relationship Id="rId18" Type="http://schemas.openxmlformats.org/officeDocument/2006/relationships/customXml" Target="../ink/ink14.xml"/><Relationship Id="rId3" Type="http://schemas.openxmlformats.org/officeDocument/2006/relationships/image" Target="../media/image7.png"/><Relationship Id="rId21" Type="http://schemas.openxmlformats.org/officeDocument/2006/relationships/customXml" Target="../ink/ink17.xml"/><Relationship Id="rId7" Type="http://schemas.openxmlformats.org/officeDocument/2006/relationships/customXml" Target="../ink/ink5.xml"/><Relationship Id="rId12" Type="http://schemas.openxmlformats.org/officeDocument/2006/relationships/customXml" Target="../ink/ink8.xml"/><Relationship Id="rId17" Type="http://schemas.openxmlformats.org/officeDocument/2006/relationships/customXml" Target="../ink/ink13.xml"/><Relationship Id="rId2" Type="http://schemas.openxmlformats.org/officeDocument/2006/relationships/customXml" Target="../ink/ink1.xml"/><Relationship Id="rId16" Type="http://schemas.openxmlformats.org/officeDocument/2006/relationships/customXml" Target="../ink/ink12.xml"/><Relationship Id="rId20" Type="http://schemas.openxmlformats.org/officeDocument/2006/relationships/customXml" Target="../ink/ink16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4.xml"/><Relationship Id="rId11" Type="http://schemas.openxmlformats.org/officeDocument/2006/relationships/image" Target="../media/image9.png"/><Relationship Id="rId5" Type="http://schemas.openxmlformats.org/officeDocument/2006/relationships/customXml" Target="../ink/ink3.xml"/><Relationship Id="rId15" Type="http://schemas.openxmlformats.org/officeDocument/2006/relationships/customXml" Target="../ink/ink11.xml"/><Relationship Id="rId23" Type="http://schemas.openxmlformats.org/officeDocument/2006/relationships/image" Target="../media/image10.jpeg"/><Relationship Id="rId10" Type="http://schemas.openxmlformats.org/officeDocument/2006/relationships/customXml" Target="../ink/ink7.xml"/><Relationship Id="rId19" Type="http://schemas.openxmlformats.org/officeDocument/2006/relationships/customXml" Target="../ink/ink15.xml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customXml" Target="../ink/ink10.xml"/><Relationship Id="rId22" Type="http://schemas.openxmlformats.org/officeDocument/2006/relationships/customXml" Target="../ink/ink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s://creativecommons.org/licenses/by-nc/3.0/" TargetMode="External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blogs.lse.ac.uk/usappblog/2019/07/06/higher-taxes-tend-to-suppress-innovation/" TargetMode="External"/><Relationship Id="rId5" Type="http://schemas.openxmlformats.org/officeDocument/2006/relationships/image" Target="../media/image11.jpg"/><Relationship Id="rId4" Type="http://schemas.openxmlformats.org/officeDocument/2006/relationships/customXml" Target="../ink/ink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umeurweb.com/lutter-contre-la-desinformation-a-toutes-les-etapes-de-son-cycle-de-vie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creativecommons.org/licenses/by-nc/3.0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eele.ac.uk/research/researchnews/2025/january/artificial-intelligence/fake-news-detector.php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DE2CF-513F-1761-72F9-B3AE9E9FA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642" y="1113503"/>
            <a:ext cx="8824913" cy="3328988"/>
          </a:xfrm>
        </p:spPr>
        <p:txBody>
          <a:bodyPr/>
          <a:lstStyle/>
          <a:p>
            <a: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FAKE NEWS </a:t>
            </a:r>
            <a:b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</a:rPr>
            </a:br>
            <a: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DETECTION</a:t>
            </a:r>
            <a:br>
              <a:rPr lang="en-IN" dirty="0"/>
            </a:br>
            <a:r>
              <a:rPr lang="en-IN" dirty="0"/>
              <a:t>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537F9-9B7D-3DBD-F99E-93A5884B3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9703" y="4581833"/>
            <a:ext cx="4365523" cy="212215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Presentation by : 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amulya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en-IN" dirty="0">
                <a:solidFill>
                  <a:schemeClr val="bg1">
                    <a:lumMod val="50000"/>
                    <a:lumOff val="50000"/>
                  </a:schemeClr>
                </a:solidFill>
              </a:rPr>
              <a:t>23u51a6734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Meenakshi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en-IN" dirty="0">
                <a:solidFill>
                  <a:schemeClr val="bg1">
                    <a:lumMod val="50000"/>
                    <a:lumOff val="50000"/>
                  </a:schemeClr>
                </a:solidFill>
              </a:rPr>
              <a:t>23u51a6751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)</a:t>
            </a: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teja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en-IN" dirty="0">
                <a:solidFill>
                  <a:schemeClr val="bg1">
                    <a:lumMod val="50000"/>
                    <a:lumOff val="50000"/>
                  </a:schemeClr>
                </a:solidFill>
              </a:rPr>
              <a:t>23u51a6706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Sai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kiran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en-IN" dirty="0">
                <a:solidFill>
                  <a:schemeClr val="bg1">
                    <a:lumMod val="50000"/>
                    <a:lumOff val="50000"/>
                  </a:schemeClr>
                </a:solidFill>
              </a:rPr>
              <a:t>23u51a6739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10DDEF-D9CD-9C54-CA27-5C40C7268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4929" y="0"/>
            <a:ext cx="5624051" cy="7138219"/>
          </a:xfrm>
          <a:prstGeom prst="rect">
            <a:avLst/>
          </a:prstGeom>
        </p:spPr>
      </p:pic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12F89EE5-0122-5AC2-84E7-5779F61BDC6E}"/>
              </a:ext>
            </a:extLst>
          </p:cNvPr>
          <p:cNvSpPr/>
          <p:nvPr/>
        </p:nvSpPr>
        <p:spPr>
          <a:xfrm>
            <a:off x="964161" y="5093109"/>
            <a:ext cx="225542" cy="13765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98445AB-6433-5C72-97D5-DFD3BBFFF547}"/>
              </a:ext>
            </a:extLst>
          </p:cNvPr>
          <p:cNvSpPr/>
          <p:nvPr/>
        </p:nvSpPr>
        <p:spPr>
          <a:xfrm rot="4870492" flipH="1">
            <a:off x="1172867" y="5533554"/>
            <a:ext cx="45719" cy="1221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6CA447-21EE-8792-5D69-5BE55CC78FF8}"/>
              </a:ext>
            </a:extLst>
          </p:cNvPr>
          <p:cNvSpPr/>
          <p:nvPr/>
        </p:nvSpPr>
        <p:spPr>
          <a:xfrm>
            <a:off x="964161" y="5476567"/>
            <a:ext cx="294368" cy="13765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0393B3C-42B5-06DC-0E03-8781524FBB11}"/>
              </a:ext>
            </a:extLst>
          </p:cNvPr>
          <p:cNvSpPr/>
          <p:nvPr/>
        </p:nvSpPr>
        <p:spPr>
          <a:xfrm>
            <a:off x="964161" y="5860026"/>
            <a:ext cx="294368" cy="14404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9967C53F-38A8-8F6A-5585-59F69EA7FCB8}"/>
              </a:ext>
            </a:extLst>
          </p:cNvPr>
          <p:cNvSpPr/>
          <p:nvPr/>
        </p:nvSpPr>
        <p:spPr>
          <a:xfrm flipH="1">
            <a:off x="939581" y="6249875"/>
            <a:ext cx="294367" cy="19503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173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29CB0-2BA7-B7B4-4254-D26E5DF42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62116"/>
            <a:ext cx="9675813" cy="2966884"/>
          </a:xfrm>
        </p:spPr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626F4-955E-00FE-22B0-A6488F590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3200" y="1396181"/>
            <a:ext cx="5437240" cy="4601497"/>
          </a:xfrm>
        </p:spPr>
        <p:txBody>
          <a:bodyPr>
            <a:normAutofit/>
          </a:bodyPr>
          <a:lstStyle/>
          <a:p>
            <a:r>
              <a:rPr lang="en-IN" dirty="0"/>
              <a:t>Objective</a:t>
            </a:r>
          </a:p>
          <a:p>
            <a:r>
              <a:rPr lang="en-IN" dirty="0"/>
              <a:t>Introduction</a:t>
            </a:r>
          </a:p>
          <a:p>
            <a:r>
              <a:rPr lang="en-IN" dirty="0"/>
              <a:t>Problem statement</a:t>
            </a:r>
          </a:p>
          <a:p>
            <a:r>
              <a:rPr lang="en-IN" dirty="0"/>
              <a:t>Domain</a:t>
            </a:r>
          </a:p>
          <a:p>
            <a:r>
              <a:rPr lang="en-IN" dirty="0"/>
              <a:t>System Architecture</a:t>
            </a:r>
          </a:p>
          <a:p>
            <a:r>
              <a:rPr lang="en-IN" dirty="0"/>
              <a:t>Dataset</a:t>
            </a:r>
          </a:p>
          <a:p>
            <a:r>
              <a:rPr lang="en-IN" dirty="0"/>
              <a:t>Technologies Used</a:t>
            </a:r>
          </a:p>
          <a:p>
            <a:r>
              <a:rPr lang="en-IN" dirty="0"/>
              <a:t>Working Process</a:t>
            </a:r>
          </a:p>
          <a:p>
            <a:r>
              <a:rPr lang="en-IN" dirty="0"/>
              <a:t>Frontend</a:t>
            </a:r>
          </a:p>
          <a:p>
            <a:r>
              <a:rPr lang="en-IN" dirty="0"/>
              <a:t>Backend</a:t>
            </a:r>
          </a:p>
          <a:p>
            <a:r>
              <a:rPr lang="en-IN" dirty="0"/>
              <a:t>Result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A8CA53-F77F-DFC6-D7A3-83639C716184}"/>
              </a:ext>
            </a:extLst>
          </p:cNvPr>
          <p:cNvCxnSpPr>
            <a:cxnSpLocks/>
          </p:cNvCxnSpPr>
          <p:nvPr/>
        </p:nvCxnSpPr>
        <p:spPr>
          <a:xfrm>
            <a:off x="2556387" y="1710813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187A25D-A648-5523-8C92-2BA139B26D07}"/>
              </a:ext>
            </a:extLst>
          </p:cNvPr>
          <p:cNvGrpSpPr/>
          <p:nvPr/>
        </p:nvGrpSpPr>
        <p:grpSpPr>
          <a:xfrm>
            <a:off x="2743177" y="1769628"/>
            <a:ext cx="360" cy="360"/>
            <a:chOff x="2743177" y="1769628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A65386D-BD81-F459-A586-48CB105440F1}"/>
                    </a:ext>
                  </a:extLst>
                </p14:cNvPr>
                <p14:cNvContentPartPr/>
                <p14:nvPr/>
              </p14:nvContentPartPr>
              <p14:xfrm>
                <a:off x="2743177" y="1769628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A65386D-BD81-F459-A586-48CB105440F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37057" y="17635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568FEAC-A243-42B6-43EB-70958A94382E}"/>
                    </a:ext>
                  </a:extLst>
                </p14:cNvPr>
                <p14:cNvContentPartPr/>
                <p14:nvPr/>
              </p14:nvContentPartPr>
              <p14:xfrm>
                <a:off x="2743177" y="1769628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568FEAC-A243-42B6-43EB-70958A9438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37057" y="176350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3DC71BE-250B-EAB3-DDBB-CC7F752D56AD}"/>
              </a:ext>
            </a:extLst>
          </p:cNvPr>
          <p:cNvGrpSpPr/>
          <p:nvPr/>
        </p:nvGrpSpPr>
        <p:grpSpPr>
          <a:xfrm>
            <a:off x="2680177" y="1691148"/>
            <a:ext cx="23760" cy="360"/>
            <a:chOff x="2680177" y="1691148"/>
            <a:chExt cx="237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E22DF60-86B9-6058-9A18-A6EBB76C10DB}"/>
                    </a:ext>
                  </a:extLst>
                </p14:cNvPr>
                <p14:cNvContentPartPr/>
                <p14:nvPr/>
              </p14:nvContentPartPr>
              <p14:xfrm>
                <a:off x="2693857" y="1691148"/>
                <a:ext cx="360" cy="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E22DF60-86B9-6058-9A18-A6EBB76C10D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87737" y="16850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E8184E0-B0BB-E8E0-F19D-C18063D7D12E}"/>
                    </a:ext>
                  </a:extLst>
                </p14:cNvPr>
                <p14:cNvContentPartPr/>
                <p14:nvPr/>
              </p14:nvContentPartPr>
              <p14:xfrm>
                <a:off x="2693857" y="1691148"/>
                <a:ext cx="36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E8184E0-B0BB-E8E0-F19D-C18063D7D1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87737" y="16850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9449750-CB3D-6E6F-B8F8-515EA56D1783}"/>
                    </a:ext>
                  </a:extLst>
                </p14:cNvPr>
                <p14:cNvContentPartPr/>
                <p14:nvPr/>
              </p14:nvContentPartPr>
              <p14:xfrm>
                <a:off x="2693857" y="1691148"/>
                <a:ext cx="36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9449750-CB3D-6E6F-B8F8-515EA56D178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87737" y="16850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9C12B2A-D08E-9AED-EFF6-BBEC60E73C65}"/>
                    </a:ext>
                  </a:extLst>
                </p14:cNvPr>
                <p14:cNvContentPartPr/>
                <p14:nvPr/>
              </p14:nvContentPartPr>
              <p14:xfrm>
                <a:off x="2680177" y="1691148"/>
                <a:ext cx="1404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9C12B2A-D08E-9AED-EFF6-BBEC60E73C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74057" y="1685028"/>
                  <a:ext cx="26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92446F7-46CB-0FAD-8D97-5F749C9CEC66}"/>
                    </a:ext>
                  </a:extLst>
                </p14:cNvPr>
                <p14:cNvContentPartPr/>
                <p14:nvPr/>
              </p14:nvContentPartPr>
              <p14:xfrm>
                <a:off x="2703577" y="1691148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92446F7-46CB-0FAD-8D97-5F749C9CEC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67937" y="165514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3BED57C-5994-9571-316C-6153D97591BD}"/>
                  </a:ext>
                </a:extLst>
              </p14:cNvPr>
              <p14:cNvContentPartPr/>
              <p14:nvPr/>
            </p14:nvContentPartPr>
            <p14:xfrm>
              <a:off x="2733457" y="2094348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3BED57C-5994-9571-316C-6153D97591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97457" y="205834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CED359D-B601-29BB-3770-16E2AE47C68B}"/>
                  </a:ext>
                </a:extLst>
              </p14:cNvPr>
              <p14:cNvContentPartPr/>
              <p14:nvPr/>
            </p14:nvContentPartPr>
            <p14:xfrm>
              <a:off x="2733457" y="2487108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CED359D-B601-29BB-3770-16E2AE47C68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97457" y="245146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8FA19C4-E55A-52C5-4F1D-4CE12443BF73}"/>
                  </a:ext>
                </a:extLst>
              </p14:cNvPr>
              <p14:cNvContentPartPr/>
              <p14:nvPr/>
            </p14:nvContentPartPr>
            <p14:xfrm>
              <a:off x="2772337" y="2910468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8FA19C4-E55A-52C5-4F1D-4CE12443BF7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6697" y="287446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4201E4B-8986-03CE-485B-C468427EDBC0}"/>
                  </a:ext>
                </a:extLst>
              </p14:cNvPr>
              <p14:cNvContentPartPr/>
              <p14:nvPr/>
            </p14:nvContentPartPr>
            <p14:xfrm>
              <a:off x="2772337" y="3323388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4201E4B-8986-03CE-485B-C468427EDBC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6697" y="328738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CF34FC3-0E23-35C9-8D70-ED1AFDD97EC5}"/>
                  </a:ext>
                </a:extLst>
              </p14:cNvPr>
              <p14:cNvContentPartPr/>
              <p14:nvPr/>
            </p14:nvContentPartPr>
            <p14:xfrm>
              <a:off x="2772337" y="3736308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CF34FC3-0E23-35C9-8D70-ED1AFDD97EC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6697" y="370066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E073060-DF33-6313-A99D-97CCDE63CC30}"/>
                  </a:ext>
                </a:extLst>
              </p14:cNvPr>
              <p14:cNvContentPartPr/>
              <p14:nvPr/>
            </p14:nvContentPartPr>
            <p14:xfrm>
              <a:off x="2782417" y="4158948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E073060-DF33-6313-A99D-97CCDE63CC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6777" y="4123308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B4A979C-0132-538F-5625-9C3EF1BA02CB}"/>
              </a:ext>
            </a:extLst>
          </p:cNvPr>
          <p:cNvGrpSpPr/>
          <p:nvPr/>
        </p:nvGrpSpPr>
        <p:grpSpPr>
          <a:xfrm>
            <a:off x="2782417" y="4532628"/>
            <a:ext cx="360" cy="360"/>
            <a:chOff x="2782417" y="4532628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A9F55A3-5989-B21E-57FF-B8552D9AB8C9}"/>
                    </a:ext>
                  </a:extLst>
                </p14:cNvPr>
                <p14:cNvContentPartPr/>
                <p14:nvPr/>
              </p14:nvContentPartPr>
              <p14:xfrm>
                <a:off x="2782417" y="4532628"/>
                <a:ext cx="36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A9F55A3-5989-B21E-57FF-B8552D9AB8C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46777" y="449662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7555DAB-7371-6144-DB40-CCE1A608528F}"/>
                    </a:ext>
                  </a:extLst>
                </p14:cNvPr>
                <p14:cNvContentPartPr/>
                <p14:nvPr/>
              </p14:nvContentPartPr>
              <p14:xfrm>
                <a:off x="2782417" y="4532628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7555DAB-7371-6144-DB40-CCE1A60852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46777" y="449662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93C7982-C1AE-93DB-0F25-6E544B7AF01F}"/>
                  </a:ext>
                </a:extLst>
              </p14:cNvPr>
              <p14:cNvContentPartPr/>
              <p14:nvPr/>
            </p14:nvContentPartPr>
            <p14:xfrm>
              <a:off x="2782417" y="4926108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93C7982-C1AE-93DB-0F25-6E544B7AF0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6777" y="489010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2697BCC-F22A-2DCA-21D8-303C0FEA0E29}"/>
                  </a:ext>
                </a:extLst>
              </p14:cNvPr>
              <p14:cNvContentPartPr/>
              <p14:nvPr/>
            </p14:nvContentPartPr>
            <p14:xfrm>
              <a:off x="2782417" y="5318868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2697BCC-F22A-2DCA-21D8-303C0FEA0E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6777" y="528322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646AFBB-C960-AA3B-71B1-8AAB2F62F5B8}"/>
                  </a:ext>
                </a:extLst>
              </p14:cNvPr>
              <p14:cNvContentPartPr/>
              <p14:nvPr/>
            </p14:nvContentPartPr>
            <p14:xfrm>
              <a:off x="2782417" y="5722068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646AFBB-C960-AA3B-71B1-8AAB2F62F5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6777" y="5686428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31" name="Picture 30">
            <a:extLst>
              <a:ext uri="{FF2B5EF4-FFF2-40B4-BE49-F238E27FC236}">
                <a16:creationId xmlns:a16="http://schemas.microsoft.com/office/drawing/2014/main" id="{F0CDD318-639E-C613-27A8-2D72E86D31C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704" y="934426"/>
            <a:ext cx="6347108" cy="464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5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D614-F32F-6846-1A8C-FF2F806F1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353961"/>
            <a:ext cx="9813465" cy="3075039"/>
          </a:xfrm>
        </p:spPr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5E563-60E4-559C-4F22-79627D968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0103" y="1199535"/>
            <a:ext cx="8504904" cy="375592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To classify news as 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Fake or Real </a:t>
            </a:r>
            <a:r>
              <a:rPr lang="en-IN" dirty="0"/>
              <a:t>using Machine Learning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To reduce the spread of misinformation in society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Improve accuracy of classification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Detect fake and real news automatically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Provide quick and reliable results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E60B797-F214-05F7-EB13-533FE6D70F09}"/>
                  </a:ext>
                </a:extLst>
              </p14:cNvPr>
              <p14:cNvContentPartPr/>
              <p14:nvPr/>
            </p14:nvContentPartPr>
            <p14:xfrm>
              <a:off x="2162857" y="3038021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E60B797-F214-05F7-EB13-533FE6D70F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7217" y="3002381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409208-7609-58AB-1DD3-CC0598154930}"/>
                  </a:ext>
                </a:extLst>
              </p14:cNvPr>
              <p14:cNvContentPartPr/>
              <p14:nvPr/>
            </p14:nvContentPartPr>
            <p14:xfrm>
              <a:off x="2172577" y="3018221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409208-7609-58AB-1DD3-CC05981549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36937" y="2982221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D36BC62-3C61-7F11-4315-36045D3713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r="259" b="31"/>
          <a:stretch>
            <a:fillRect/>
          </a:stretch>
        </p:blipFill>
        <p:spPr>
          <a:xfrm>
            <a:off x="7882169" y="1463678"/>
            <a:ext cx="3150507" cy="496760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24D11A-415A-9E57-8DF2-77CA50810ED3}"/>
              </a:ext>
            </a:extLst>
          </p:cNvPr>
          <p:cNvSpPr txBox="1"/>
          <p:nvPr/>
        </p:nvSpPr>
        <p:spPr>
          <a:xfrm>
            <a:off x="7313210" y="4691315"/>
            <a:ext cx="22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6" tooltip="https://blogs.lse.ac.uk/usappblog/2019/07/06/higher-taxes-tend-to-suppress-innovation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7" tooltip="https://creativecommons.org/licenses/by-nc/3.0/"/>
              </a:rPr>
              <a:t>CC BY-NC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315119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10D6-ED12-2E7B-7C7D-48DCB7AD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93" y="415413"/>
            <a:ext cx="8825659" cy="198120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66285-76B2-942B-66A3-F96A0F652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61440" y="3088639"/>
            <a:ext cx="8511018" cy="1043367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u="sng" dirty="0"/>
              <a:t>Fake news is intentionally created to mislead people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u="sng" dirty="0"/>
              <a:t>It spreads faster than real news due to social media sharing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u="sng" dirty="0"/>
              <a:t>Lack of awareness makes people believe fake information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u="sng" dirty="0"/>
              <a:t>Fake news can damage reputation and create social unrest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u="sng" dirty="0"/>
              <a:t>It is difficult for humans to verify large volumes of news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u="sng" dirty="0"/>
              <a:t>Traditional methods are not efficient for detection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u="sng" dirty="0"/>
              <a:t>Automation is required to handle large-scale data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u="sng" dirty="0"/>
              <a:t>Machine Learning models learn patterns from news data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u="sng" dirty="0"/>
              <a:t>NLP helps in understanding meaning and context of text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u="sng" dirty="0"/>
              <a:t>Early detection of fake news can prevent its spread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u="sng" dirty="0"/>
              <a:t>Fake news detection is an important research area today</a:t>
            </a:r>
          </a:p>
        </p:txBody>
      </p:sp>
    </p:spTree>
    <p:extLst>
      <p:ext uri="{BB962C8B-B14F-4D97-AF65-F5344CB8AC3E}">
        <p14:creationId xmlns:p14="http://schemas.microsoft.com/office/powerpoint/2010/main" val="87830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2ED05-2D5D-7275-B142-83921331C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E0685-F77E-41BF-90FD-90B6BD1D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" y="426720"/>
            <a:ext cx="9848533" cy="300228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26141-7E64-76E8-876B-37D8206A9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9280" y="548640"/>
            <a:ext cx="9391333" cy="461264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Rapid spread of fake news on social media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Difficult to verify authenticity manually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Causes misinformation and confusion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Large volume of news data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Need for automated fake news detection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C6CC6-A55D-E570-5B68-C27EDBAFB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57886" y="628213"/>
            <a:ext cx="5052164" cy="487850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5F4220-D39B-7587-E717-72298B5960BF}"/>
              </a:ext>
            </a:extLst>
          </p:cNvPr>
          <p:cNvSpPr txBox="1"/>
          <p:nvPr/>
        </p:nvSpPr>
        <p:spPr>
          <a:xfrm>
            <a:off x="4500879" y="6187440"/>
            <a:ext cx="1229361" cy="64633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humeurweb.com/lutter-contre-la-desinformation-a-toutes-les-etapes-de-son-cycle-de-vie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/3.0/"/>
              </a:rPr>
              <a:t>CC BY-NC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3941635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47B5-48B2-58C2-471A-7D6D38ACA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54" y="330200"/>
            <a:ext cx="8825659" cy="1981200"/>
          </a:xfrm>
        </p:spPr>
        <p:txBody>
          <a:bodyPr/>
          <a:lstStyle/>
          <a:p>
            <a:r>
              <a:rPr lang="en-IN" dirty="0"/>
              <a:t>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73B3F-8BDC-5A12-8CD6-A80CA4008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6240" y="985520"/>
            <a:ext cx="9594533" cy="366776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This project belongs to the Artificial Intelligence(AI)domain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It mainly uses Machine Learning(ML) </a:t>
            </a:r>
            <a:r>
              <a:rPr lang="en-IN" dirty="0" err="1"/>
              <a:t>tecniques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It is also a part of Data Science for handling datasets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The system learns patterns from news data to make predictions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It classifies news as Real or Fake automatically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9A105-6BCD-5C61-660A-7C86F5CC0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41" t="37270" r="80" b="36048"/>
          <a:stretch>
            <a:fillRect/>
          </a:stretch>
        </p:blipFill>
        <p:spPr>
          <a:xfrm>
            <a:off x="6016157" y="3480738"/>
            <a:ext cx="5779603" cy="304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69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C157-7D3F-74D5-E3B4-313DF4A7F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82880"/>
            <a:ext cx="9828213" cy="3246120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1930E-4951-D0BB-FAAE-0E87EA297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120" y="1574800"/>
            <a:ext cx="6024880" cy="3434080"/>
          </a:xfrm>
        </p:spPr>
        <p:txBody>
          <a:bodyPr>
            <a:normAutofit fontScale="925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system takes news text as input from the user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Input text is sent to the backend (Flask server)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Text is processed using preprocessing techniques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Data is converted into numerical form using TF-IDF / Tokenization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processed data is given to the trained model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model analyzes the text and predicts the result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Output is classified as Real News or Fake News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result is displayed on the frontend (web page)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398A66-D432-FB8F-7F0E-AF827ECB2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63" r="3403" b="25704"/>
          <a:stretch>
            <a:fillRect/>
          </a:stretch>
        </p:blipFill>
        <p:spPr>
          <a:xfrm>
            <a:off x="6258560" y="995680"/>
            <a:ext cx="5862320" cy="48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85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EEAE-A976-A27E-2709-04A4DED4D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" y="436880"/>
            <a:ext cx="9807893" cy="2992120"/>
          </a:xfrm>
        </p:spPr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7F94A-DE7D-BB6A-D07A-71FAE8D83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81279" y="1442720"/>
            <a:ext cx="5947402" cy="4516120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Dataset is collected from Kaggle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It contains news articles used for training the model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dataset includes text and label columns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Text column contains news content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Label column indicates: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0 → Fake News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1 → Real News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dataset contains a large number of news samples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It is divided into training and testing data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Data is preprocessed before training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CF7182-E03A-6FCF-A42F-F36020301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9361" r="-2456" b="39092"/>
          <a:stretch>
            <a:fillRect/>
          </a:stretch>
        </p:blipFill>
        <p:spPr>
          <a:xfrm>
            <a:off x="5866123" y="1706880"/>
            <a:ext cx="6234438" cy="42519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80389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0AD4F-4422-0482-6598-C5CE9407C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" y="548640"/>
            <a:ext cx="9838373" cy="2880360"/>
          </a:xfrm>
        </p:spPr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DEFB7-EE1C-7373-B260-75C3BE24B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240" y="548639"/>
            <a:ext cx="9838373" cy="545591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PROGRAMMING LANGUAGE---python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LIBRARIES---Pandas , Scikit-learn , NumPy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FRONTEND---HTML ,CSS ,JavaScript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BACKEND---Flask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A3B1B-4252-FFDC-F184-BB1C63D50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0" y="1183912"/>
            <a:ext cx="6068402" cy="482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4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64C6-F896-763E-C8A5-83A1014D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223520"/>
            <a:ext cx="9858693" cy="3205480"/>
          </a:xfrm>
        </p:spPr>
        <p:txBody>
          <a:bodyPr/>
          <a:lstStyle/>
          <a:p>
            <a:r>
              <a:rPr lang="en-IN" dirty="0"/>
              <a:t>WORKING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28D37-2B70-F7A7-9261-7861E4CE8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33D1D-A473-B122-AECB-104C16D91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38" y="1132840"/>
            <a:ext cx="8989642" cy="50647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5719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D662-07AE-DE1D-8826-31E901E60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" y="487680"/>
            <a:ext cx="9899333" cy="2941320"/>
          </a:xfrm>
        </p:spPr>
        <p:txBody>
          <a:bodyPr/>
          <a:lstStyle/>
          <a:p>
            <a:r>
              <a:rPr lang="en-IN" dirty="0"/>
              <a:t>FRONTEND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FD0D3-DC9E-DB00-2368-1DAAB252E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3040" y="1259840"/>
            <a:ext cx="9787573" cy="475996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Frontend is the user interface of the system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It is used to interact with the user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Developed using HTML and CSS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Provides a simple and user-friendly design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Allows user to enter news text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Sends input data to backend for processing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Displays the prediction result (Real/Fake)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Ensures smooth communication between user and system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14A473-75D5-AC1C-8F46-24C3E9C7E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703" r="889" b="23260"/>
          <a:stretch>
            <a:fillRect/>
          </a:stretch>
        </p:blipFill>
        <p:spPr>
          <a:xfrm>
            <a:off x="7355840" y="589280"/>
            <a:ext cx="4531360" cy="500888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02661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D162A-2BFF-FDC2-5BAE-647E14068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406400"/>
            <a:ext cx="9777413" cy="3022600"/>
          </a:xfrm>
        </p:spPr>
        <p:txBody>
          <a:bodyPr/>
          <a:lstStyle/>
          <a:p>
            <a:r>
              <a:rPr lang="en-IN" dirty="0"/>
              <a:t>BACKEND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5EE22-9465-394A-FEFD-2C25B993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280" y="1249680"/>
            <a:ext cx="9899333" cy="477012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Backend is the core processing part of the system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It handles data processing and prediction logic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Developed using Python and Flask framework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Receives input from the frontend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Performs text preprocessing (cleaning, removing </a:t>
            </a:r>
            <a:r>
              <a:rPr lang="en-US" dirty="0" err="1"/>
              <a:t>stopwords</a:t>
            </a:r>
            <a:r>
              <a:rPr lang="en-US" dirty="0"/>
              <a:t>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Converts text into numerical format using TF-IDF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Uses a trained Machine Learning model for prediction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Classifies news as Real or Fake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Sends the result back to the frontend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93B8F-4F26-20B9-D351-2FDE53D79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0" r="222" b="22075"/>
          <a:stretch>
            <a:fillRect/>
          </a:stretch>
        </p:blipFill>
        <p:spPr>
          <a:xfrm>
            <a:off x="6977380" y="325120"/>
            <a:ext cx="5133340" cy="31038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63CFBB-E93B-2EA9-393F-0AD6E6347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9" r="39334" b="39556"/>
          <a:stretch>
            <a:fillRect/>
          </a:stretch>
        </p:blipFill>
        <p:spPr>
          <a:xfrm>
            <a:off x="7492181" y="3347718"/>
            <a:ext cx="4072697" cy="31038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30910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74AB-670B-94CB-627B-B22DAB6E2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7" y="503903"/>
            <a:ext cx="8825659" cy="1981200"/>
          </a:xfrm>
        </p:spPr>
        <p:txBody>
          <a:bodyPr/>
          <a:lstStyle/>
          <a:p>
            <a:r>
              <a:rPr lang="en-IN" dirty="0"/>
              <a:t>RESULT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DED58-542D-A51E-4F83-81F55BE7E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CC95E-164B-AA23-F99D-D21F3956E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18" r="4955" b="17067"/>
          <a:stretch>
            <a:fillRect/>
          </a:stretch>
        </p:blipFill>
        <p:spPr>
          <a:xfrm>
            <a:off x="1154954" y="1641986"/>
            <a:ext cx="9765808" cy="444664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02314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E021DE-382E-AE24-F7F9-5D496A119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3943" r="-1690" b="32412"/>
          <a:stretch>
            <a:fillRect/>
          </a:stretch>
        </p:blipFill>
        <p:spPr>
          <a:xfrm>
            <a:off x="-306352" y="0"/>
            <a:ext cx="13926613" cy="826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156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247</TotalTime>
  <Words>562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Century Gothic</vt:lpstr>
      <vt:lpstr>Wingdings</vt:lpstr>
      <vt:lpstr>Wingdings 3</vt:lpstr>
      <vt:lpstr>Ion</vt:lpstr>
      <vt:lpstr>FAKE NEWS  DETECTION using machine learning</vt:lpstr>
      <vt:lpstr>CONTENT</vt:lpstr>
      <vt:lpstr>OBJECTIVE</vt:lpstr>
      <vt:lpstr>INTRODUCTION</vt:lpstr>
      <vt:lpstr>PROBLEM STATEMENT</vt:lpstr>
      <vt:lpstr>DOMAIN</vt:lpstr>
      <vt:lpstr>SYSTEM ARCHITECTURE</vt:lpstr>
      <vt:lpstr>DATASET</vt:lpstr>
      <vt:lpstr>TECHNOLOGIES USED</vt:lpstr>
      <vt:lpstr>WORKING PROCESS</vt:lpstr>
      <vt:lpstr>FRONTEND</vt:lpstr>
      <vt:lpstr>BACKEND</vt:lpstr>
      <vt:lpstr>RESULT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gunji amulya</dc:creator>
  <cp:lastModifiedBy>gunji amulya</cp:lastModifiedBy>
  <cp:revision>1</cp:revision>
  <dcterms:created xsi:type="dcterms:W3CDTF">2026-04-05T06:43:47Z</dcterms:created>
  <dcterms:modified xsi:type="dcterms:W3CDTF">2026-04-05T10:51:38Z</dcterms:modified>
</cp:coreProperties>
</file>